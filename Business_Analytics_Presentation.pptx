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51E43D-EC82-634F-9658-43375D6CA04C}" v="1" dt="2026-04-25T17:29:52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3"/>
    <p:restoredTop sz="94688"/>
  </p:normalViewPr>
  <p:slideViewPr>
    <p:cSldViewPr snapToGrid="0" snapToObjects="1">
      <p:cViewPr varScale="1">
        <p:scale>
          <a:sx n="99" d="100"/>
          <a:sy n="99" d="100"/>
        </p:scale>
        <p:origin x="192" y="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vik Kesarwani" userId="aba5f14c-29e6-4e27-88bb-5eb3ce6ca52b" providerId="ADAL" clId="{273DAC46-4A2B-52AB-B62D-5BB81A3D3B90}"/>
    <pc:docChg chg="custSel modSld">
      <pc:chgData name="Satvik Kesarwani" userId="aba5f14c-29e6-4e27-88bb-5eb3ce6ca52b" providerId="ADAL" clId="{273DAC46-4A2B-52AB-B62D-5BB81A3D3B90}" dt="2026-04-25T17:31:07.332" v="43" actId="478"/>
      <pc:docMkLst>
        <pc:docMk/>
      </pc:docMkLst>
      <pc:sldChg chg="delSp modSp mod">
        <pc:chgData name="Satvik Kesarwani" userId="aba5f14c-29e6-4e27-88bb-5eb3ce6ca52b" providerId="ADAL" clId="{273DAC46-4A2B-52AB-B62D-5BB81A3D3B90}" dt="2026-04-25T17:26:50.563" v="2"/>
        <pc:sldMkLst>
          <pc:docMk/>
          <pc:sldMk cId="0" sldId="257"/>
        </pc:sldMkLst>
        <pc:spChg chg="del mod">
          <ac:chgData name="Satvik Kesarwani" userId="aba5f14c-29e6-4e27-88bb-5eb3ce6ca52b" providerId="ADAL" clId="{273DAC46-4A2B-52AB-B62D-5BB81A3D3B90}" dt="2026-04-25T17:26:50.563" v="2"/>
          <ac:spMkLst>
            <pc:docMk/>
            <pc:sldMk cId="0" sldId="257"/>
            <ac:spMk id="46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13.065" v="13"/>
        <pc:sldMkLst>
          <pc:docMk/>
          <pc:sldMk cId="0" sldId="258"/>
        </pc:sldMkLst>
        <pc:spChg chg="del mod">
          <ac:chgData name="Satvik Kesarwani" userId="aba5f14c-29e6-4e27-88bb-5eb3ce6ca52b" providerId="ADAL" clId="{273DAC46-4A2B-52AB-B62D-5BB81A3D3B90}" dt="2026-04-25T17:27:13.065" v="13"/>
          <ac:spMkLst>
            <pc:docMk/>
            <pc:sldMk cId="0" sldId="258"/>
            <ac:spMk id="49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13.317" v="17"/>
        <pc:sldMkLst>
          <pc:docMk/>
          <pc:sldMk cId="0" sldId="259"/>
        </pc:sldMkLst>
        <pc:spChg chg="del mod">
          <ac:chgData name="Satvik Kesarwani" userId="aba5f14c-29e6-4e27-88bb-5eb3ce6ca52b" providerId="ADAL" clId="{273DAC46-4A2B-52AB-B62D-5BB81A3D3B90}" dt="2026-04-25T17:27:13.317" v="17"/>
          <ac:spMkLst>
            <pc:docMk/>
            <pc:sldMk cId="0" sldId="259"/>
            <ac:spMk id="61" creationId="{00000000-0000-0000-0000-000000000000}"/>
          </ac:spMkLst>
        </pc:spChg>
      </pc:sldChg>
      <pc:sldChg chg="addSp delSp modSp mod">
        <pc:chgData name="Satvik Kesarwani" userId="aba5f14c-29e6-4e27-88bb-5eb3ce6ca52b" providerId="ADAL" clId="{273DAC46-4A2B-52AB-B62D-5BB81A3D3B90}" dt="2026-04-25T17:31:07.332" v="43" actId="478"/>
        <pc:sldMkLst>
          <pc:docMk/>
          <pc:sldMk cId="0" sldId="260"/>
        </pc:sldMkLst>
        <pc:spChg chg="mod">
          <ac:chgData name="Satvik Kesarwani" userId="aba5f14c-29e6-4e27-88bb-5eb3ce6ca52b" providerId="ADAL" clId="{273DAC46-4A2B-52AB-B62D-5BB81A3D3B90}" dt="2026-04-25T17:30:17.375" v="41" actId="1076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Satvik Kesarwani" userId="aba5f14c-29e6-4e27-88bb-5eb3ce6ca52b" providerId="ADAL" clId="{273DAC46-4A2B-52AB-B62D-5BB81A3D3B90}" dt="2026-04-25T17:27:13.066" v="15"/>
          <ac:spMkLst>
            <pc:docMk/>
            <pc:sldMk cId="0" sldId="260"/>
            <ac:spMk id="16" creationId="{00000000-0000-0000-0000-000000000000}"/>
          </ac:spMkLst>
        </pc:spChg>
        <pc:picChg chg="add del mod">
          <ac:chgData name="Satvik Kesarwani" userId="aba5f14c-29e6-4e27-88bb-5eb3ce6ca52b" providerId="ADAL" clId="{273DAC46-4A2B-52AB-B62D-5BB81A3D3B90}" dt="2026-04-25T17:31:07.332" v="43" actId="478"/>
          <ac:picMkLst>
            <pc:docMk/>
            <pc:sldMk cId="0" sldId="260"/>
            <ac:picMk id="9" creationId="{3A7B8775-9FF1-7A9A-2896-25782A3A9E59}"/>
          </ac:picMkLst>
        </pc:picChg>
      </pc:sldChg>
      <pc:sldChg chg="delSp modSp mod">
        <pc:chgData name="Satvik Kesarwani" userId="aba5f14c-29e6-4e27-88bb-5eb3ce6ca52b" providerId="ADAL" clId="{273DAC46-4A2B-52AB-B62D-5BB81A3D3B90}" dt="2026-04-25T17:27:06.569" v="8"/>
        <pc:sldMkLst>
          <pc:docMk/>
          <pc:sldMk cId="0" sldId="261"/>
        </pc:sldMkLst>
        <pc:spChg chg="del mod">
          <ac:chgData name="Satvik Kesarwani" userId="aba5f14c-29e6-4e27-88bb-5eb3ce6ca52b" providerId="ADAL" clId="{273DAC46-4A2B-52AB-B62D-5BB81A3D3B90}" dt="2026-04-25T17:27:06.569" v="8"/>
          <ac:spMkLst>
            <pc:docMk/>
            <pc:sldMk cId="0" sldId="261"/>
            <ac:spMk id="16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12.390" v="11"/>
        <pc:sldMkLst>
          <pc:docMk/>
          <pc:sldMk cId="0" sldId="262"/>
        </pc:sldMkLst>
        <pc:spChg chg="del mod">
          <ac:chgData name="Satvik Kesarwani" userId="aba5f14c-29e6-4e27-88bb-5eb3ce6ca52b" providerId="ADAL" clId="{273DAC46-4A2B-52AB-B62D-5BB81A3D3B90}" dt="2026-04-25T17:27:12.390" v="11"/>
          <ac:spMkLst>
            <pc:docMk/>
            <pc:sldMk cId="0" sldId="262"/>
            <ac:spMk id="16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21.726" v="20"/>
        <pc:sldMkLst>
          <pc:docMk/>
          <pc:sldMk cId="0" sldId="263"/>
        </pc:sldMkLst>
        <pc:spChg chg="del mod">
          <ac:chgData name="Satvik Kesarwani" userId="aba5f14c-29e6-4e27-88bb-5eb3ce6ca52b" providerId="ADAL" clId="{273DAC46-4A2B-52AB-B62D-5BB81A3D3B90}" dt="2026-04-25T17:27:21.726" v="20"/>
          <ac:spMkLst>
            <pc:docMk/>
            <pc:sldMk cId="0" sldId="263"/>
            <ac:spMk id="24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28.838" v="23"/>
        <pc:sldMkLst>
          <pc:docMk/>
          <pc:sldMk cId="0" sldId="264"/>
        </pc:sldMkLst>
        <pc:spChg chg="del mod">
          <ac:chgData name="Satvik Kesarwani" userId="aba5f14c-29e6-4e27-88bb-5eb3ce6ca52b" providerId="ADAL" clId="{273DAC46-4A2B-52AB-B62D-5BB81A3D3B90}" dt="2026-04-25T17:27:28.838" v="23"/>
          <ac:spMkLst>
            <pc:docMk/>
            <pc:sldMk cId="0" sldId="264"/>
            <ac:spMk id="11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35.392" v="26"/>
        <pc:sldMkLst>
          <pc:docMk/>
          <pc:sldMk cId="0" sldId="265"/>
        </pc:sldMkLst>
        <pc:spChg chg="del mod">
          <ac:chgData name="Satvik Kesarwani" userId="aba5f14c-29e6-4e27-88bb-5eb3ce6ca52b" providerId="ADAL" clId="{273DAC46-4A2B-52AB-B62D-5BB81A3D3B90}" dt="2026-04-25T17:27:35.392" v="26"/>
          <ac:spMkLst>
            <pc:docMk/>
            <pc:sldMk cId="0" sldId="265"/>
            <ac:spMk id="50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54.060" v="35"/>
        <pc:sldMkLst>
          <pc:docMk/>
          <pc:sldMk cId="0" sldId="266"/>
        </pc:sldMkLst>
        <pc:spChg chg="del mod">
          <ac:chgData name="Satvik Kesarwani" userId="aba5f14c-29e6-4e27-88bb-5eb3ce6ca52b" providerId="ADAL" clId="{273DAC46-4A2B-52AB-B62D-5BB81A3D3B90}" dt="2026-04-25T17:27:54.060" v="35"/>
          <ac:spMkLst>
            <pc:docMk/>
            <pc:sldMk cId="0" sldId="266"/>
            <ac:spMk id="31" creationId="{00000000-0000-0000-0000-000000000000}"/>
          </ac:spMkLst>
        </pc:spChg>
      </pc:sldChg>
      <pc:sldChg chg="delSp modSp mod">
        <pc:chgData name="Satvik Kesarwani" userId="aba5f14c-29e6-4e27-88bb-5eb3ce6ca52b" providerId="ADAL" clId="{273DAC46-4A2B-52AB-B62D-5BB81A3D3B90}" dt="2026-04-25T17:27:53.752" v="33"/>
        <pc:sldMkLst>
          <pc:docMk/>
          <pc:sldMk cId="0" sldId="267"/>
        </pc:sldMkLst>
        <pc:spChg chg="del mod">
          <ac:chgData name="Satvik Kesarwani" userId="aba5f14c-29e6-4e27-88bb-5eb3ce6ca52b" providerId="ADAL" clId="{273DAC46-4A2B-52AB-B62D-5BB81A3D3B90}" dt="2026-04-25T17:27:53.752" v="33"/>
          <ac:spMkLst>
            <pc:docMk/>
            <pc:sldMk cId="0" sldId="267"/>
            <ac:spMk id="46" creationId="{00000000-0000-0000-0000-000000000000}"/>
          </ac:spMkLst>
        </pc:spChg>
        <pc:spChg chg="del mod">
          <ac:chgData name="Satvik Kesarwani" userId="aba5f14c-29e6-4e27-88bb-5eb3ce6ca52b" providerId="ADAL" clId="{273DAC46-4A2B-52AB-B62D-5BB81A3D3B90}" dt="2026-04-25T17:27:53.636" v="31"/>
          <ac:spMkLst>
            <pc:docMk/>
            <pc:sldMk cId="0" sldId="267"/>
            <ac:spMk id="4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1-B678-0A46-9457-C076BE88AA26}"/>
              </c:ext>
            </c:extLst>
          </c:dPt>
          <c:dPt>
            <c:idx val="1"/>
            <c:invertIfNegative val="1"/>
            <c:bubble3D val="0"/>
            <c:spPr>
              <a:solidFill>
                <a:srgbClr val="E84855"/>
              </a:solidFill>
            </c:spPr>
            <c:extLst>
              <c:ext xmlns:c16="http://schemas.microsoft.com/office/drawing/2014/chart" uri="{C3380CC4-5D6E-409C-BE32-E72D297353CC}">
                <c16:uniqueId val="{00000003-B678-0A46-9457-C076BE88AA26}"/>
              </c:ext>
            </c:extLst>
          </c:dPt>
          <c:dPt>
            <c:idx val="2"/>
            <c:invertIfNegative val="1"/>
            <c:bubble3D val="0"/>
            <c:spPr>
              <a:solidFill>
                <a:srgbClr val="F5A623"/>
              </a:solidFill>
            </c:spPr>
            <c:extLst>
              <c:ext xmlns:c16="http://schemas.microsoft.com/office/drawing/2014/chart" uri="{C3380CC4-5D6E-409C-BE32-E72D297353CC}">
                <c16:uniqueId val="{00000005-B678-0A46-9457-C076BE88AA26}"/>
              </c:ext>
            </c:extLst>
          </c:dPt>
          <c:dPt>
            <c:idx val="3"/>
            <c:invertIfNegative val="1"/>
            <c:bubble3D val="0"/>
            <c:spPr>
              <a:solidFill>
                <a:srgbClr val="7C3AED"/>
              </a:solidFill>
            </c:spPr>
            <c:extLst>
              <c:ext xmlns:c16="http://schemas.microsoft.com/office/drawing/2014/chart" uri="{C3380CC4-5D6E-409C-BE32-E72D297353CC}">
                <c16:uniqueId val="{00000007-B678-0A46-9457-C076BE88AA26}"/>
              </c:ext>
            </c:extLst>
          </c:dPt>
          <c:dPt>
            <c:idx val="4"/>
            <c:invertIfNegative val="1"/>
            <c:bubble3D val="0"/>
            <c:spPr>
              <a:solidFill>
                <a:srgbClr val="059669"/>
              </a:solidFill>
            </c:spPr>
            <c:extLst>
              <c:ext xmlns:c16="http://schemas.microsoft.com/office/drawing/2014/chart" uri="{C3380CC4-5D6E-409C-BE32-E72D297353CC}">
                <c16:uniqueId val="{00000009-B678-0A46-9457-C076BE88AA26}"/>
              </c:ext>
            </c:extLst>
          </c:dPt>
          <c:cat>
            <c:strRef>
              <c:f>Sheet1!$A$2:$A$6</c:f>
              <c:strCache>
                <c:ptCount val="5"/>
                <c:pt idx="0">
                  <c:v>Sports &amp;
Outdoors</c:v>
                </c:pt>
                <c:pt idx="1">
                  <c:v>Electronics</c:v>
                </c:pt>
                <c:pt idx="2">
                  <c:v>Fashion</c:v>
                </c:pt>
                <c:pt idx="3">
                  <c:v>Books &amp;
Stationery</c:v>
                </c:pt>
                <c:pt idx="4">
                  <c:v>Home &amp;
Living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211</c:v>
                </c:pt>
                <c:pt idx="1">
                  <c:v>207</c:v>
                </c:pt>
                <c:pt idx="2">
                  <c:v>198</c:v>
                </c:pt>
                <c:pt idx="3">
                  <c:v>193</c:v>
                </c:pt>
                <c:pt idx="4">
                  <c:v>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678-0A46-9457-C076BE88AA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dPt>
            <c:idx val="0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1-0A03-F142-8D4F-9307E59875DD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</c:spPr>
            <c:extLst>
              <c:ext xmlns:c16="http://schemas.microsoft.com/office/drawing/2014/chart" uri="{C3380CC4-5D6E-409C-BE32-E72D297353CC}">
                <c16:uniqueId val="{00000003-0A03-F142-8D4F-9307E59875DD}"/>
              </c:ext>
            </c:extLst>
          </c:dPt>
          <c:dPt>
            <c:idx val="2"/>
            <c:bubble3D val="0"/>
            <c:spPr>
              <a:solidFill>
                <a:srgbClr val="059669"/>
              </a:solidFill>
            </c:spPr>
            <c:extLst>
              <c:ext xmlns:c16="http://schemas.microsoft.com/office/drawing/2014/chart" uri="{C3380CC4-5D6E-409C-BE32-E72D297353CC}">
                <c16:uniqueId val="{00000005-0A03-F142-8D4F-9307E59875DD}"/>
              </c:ext>
            </c:extLst>
          </c:dPt>
          <c:cat>
            <c:strRef>
              <c:f>Sheet1!$A$2:$A$4</c:f>
              <c:strCache>
                <c:ptCount val="3"/>
                <c:pt idx="0">
                  <c:v>Male (45.7%)</c:v>
                </c:pt>
                <c:pt idx="1">
                  <c:v>Female (44.0%)</c:v>
                </c:pt>
                <c:pt idx="2">
                  <c:v>Unknown (10.3%)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45.7</c:v>
                </c:pt>
                <c:pt idx="1">
                  <c:v>44</c:v>
                </c:pt>
                <c:pt idx="2">
                  <c:v>10.3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03-F142-8D4F-9307E5987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1-86CD-8E4F-8843-A572E649FC35}"/>
              </c:ext>
            </c:extLst>
          </c:dPt>
          <c:dPt>
            <c:idx val="1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3-86CD-8E4F-8843-A572E649FC35}"/>
              </c:ext>
            </c:extLst>
          </c:dPt>
          <c:dPt>
            <c:idx val="2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5-86CD-8E4F-8843-A572E649FC35}"/>
              </c:ext>
            </c:extLst>
          </c:dPt>
          <c:dPt>
            <c:idx val="3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7-86CD-8E4F-8843-A572E649FC35}"/>
              </c:ext>
            </c:extLst>
          </c:dPt>
          <c:dPt>
            <c:idx val="4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9-86CD-8E4F-8843-A572E649FC35}"/>
              </c:ext>
            </c:extLst>
          </c:dPt>
          <c:dPt>
            <c:idx val="5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B-86CD-8E4F-8843-A572E649FC35}"/>
              </c:ext>
            </c:extLst>
          </c:dPt>
          <c:dPt>
            <c:idx val="6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D-86CD-8E4F-8843-A572E649FC35}"/>
              </c:ext>
            </c:extLst>
          </c:dPt>
          <c:dPt>
            <c:idx val="7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F-86CD-8E4F-8843-A572E649FC35}"/>
              </c:ext>
            </c:extLst>
          </c:dPt>
          <c:dPt>
            <c:idx val="8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11-86CD-8E4F-8843-A572E649FC35}"/>
              </c:ext>
            </c:extLst>
          </c:dPt>
          <c:dPt>
            <c:idx val="9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13-86CD-8E4F-8843-A572E649FC35}"/>
              </c:ext>
            </c:extLst>
          </c:dPt>
          <c:cat>
            <c:strRef>
              <c:f>Sheet1!$A$2:$A$11</c:f>
              <c:strCache>
                <c:ptCount val="10"/>
                <c:pt idx="0">
                  <c:v>Rs.0-50</c:v>
                </c:pt>
                <c:pt idx="1">
                  <c:v>Rs.50-100</c:v>
                </c:pt>
                <c:pt idx="2">
                  <c:v>Rs.100-150</c:v>
                </c:pt>
                <c:pt idx="3">
                  <c:v>Rs.150-200</c:v>
                </c:pt>
                <c:pt idx="4">
                  <c:v>Rs.200-250</c:v>
                </c:pt>
                <c:pt idx="5">
                  <c:v>Rs.250-300</c:v>
                </c:pt>
                <c:pt idx="6">
                  <c:v>Rs.300-350</c:v>
                </c:pt>
                <c:pt idx="7">
                  <c:v>Rs.350-400</c:v>
                </c:pt>
                <c:pt idx="8">
                  <c:v>Rs.400-450</c:v>
                </c:pt>
                <c:pt idx="9">
                  <c:v>Rs.450-500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</c:v>
                </c:pt>
                <c:pt idx="1">
                  <c:v>119</c:v>
                </c:pt>
                <c:pt idx="2">
                  <c:v>100</c:v>
                </c:pt>
                <c:pt idx="3">
                  <c:v>95</c:v>
                </c:pt>
                <c:pt idx="4">
                  <c:v>97</c:v>
                </c:pt>
                <c:pt idx="5">
                  <c:v>104</c:v>
                </c:pt>
                <c:pt idx="6">
                  <c:v>110</c:v>
                </c:pt>
                <c:pt idx="7">
                  <c:v>98</c:v>
                </c:pt>
                <c:pt idx="8">
                  <c:v>82</c:v>
                </c:pt>
                <c:pt idx="9">
                  <c:v>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6CD-8E4F-8843-A572E649FC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No. of Customers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E84A5F"/>
              </a:solidFill>
            </c:spPr>
            <c:extLst>
              <c:ext xmlns:c16="http://schemas.microsoft.com/office/drawing/2014/chart" uri="{C3380CC4-5D6E-409C-BE32-E72D297353CC}">
                <c16:uniqueId val="{00000001-B185-EF46-A5B6-FF849E6B6F37}"/>
              </c:ext>
            </c:extLst>
          </c:dPt>
          <c:dPt>
            <c:idx val="1"/>
            <c:invertIfNegative val="1"/>
            <c:bubble3D val="0"/>
            <c:spPr>
              <a:solidFill>
                <a:srgbClr val="F5A623"/>
              </a:solidFill>
            </c:spPr>
            <c:extLst>
              <c:ext xmlns:c16="http://schemas.microsoft.com/office/drawing/2014/chart" uri="{C3380CC4-5D6E-409C-BE32-E72D297353CC}">
                <c16:uniqueId val="{00000003-B185-EF46-A5B6-FF849E6B6F37}"/>
              </c:ext>
            </c:extLst>
          </c:dPt>
          <c:dPt>
            <c:idx val="2"/>
            <c:invertIfNegative val="1"/>
            <c:bubble3D val="0"/>
            <c:spPr>
              <a:solidFill>
                <a:srgbClr val="56CCF2"/>
              </a:solidFill>
            </c:spPr>
            <c:extLst>
              <c:ext xmlns:c16="http://schemas.microsoft.com/office/drawing/2014/chart" uri="{C3380CC4-5D6E-409C-BE32-E72D297353CC}">
                <c16:uniqueId val="{00000005-B185-EF46-A5B6-FF849E6B6F37}"/>
              </c:ext>
            </c:extLst>
          </c:dPt>
          <c:dPt>
            <c:idx val="3"/>
            <c:invertIfNegative val="1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7-B185-EF46-A5B6-FF849E6B6F37}"/>
              </c:ext>
            </c:extLst>
          </c:dPt>
          <c:dPt>
            <c:idx val="4"/>
            <c:invertIfNegative val="1"/>
            <c:bubble3D val="0"/>
            <c:spPr>
              <a:solidFill>
                <a:srgbClr val="059669"/>
              </a:solidFill>
            </c:spPr>
            <c:extLst>
              <c:ext xmlns:c16="http://schemas.microsoft.com/office/drawing/2014/chart" uri="{C3380CC4-5D6E-409C-BE32-E72D297353CC}">
                <c16:uniqueId val="{00000009-B185-EF46-A5B6-FF849E6B6F37}"/>
              </c:ext>
            </c:extLst>
          </c:dPt>
          <c:cat>
            <c:strRef>
              <c:f>Sheet1!$A$2:$A$6</c:f>
              <c:strCache>
                <c:ptCount val="5"/>
                <c:pt idx="0">
                  <c:v>1 ★</c:v>
                </c:pt>
                <c:pt idx="1">
                  <c:v>2 ★</c:v>
                </c:pt>
                <c:pt idx="2">
                  <c:v>3 ★</c:v>
                </c:pt>
                <c:pt idx="3">
                  <c:v>4 ★</c:v>
                </c:pt>
                <c:pt idx="4">
                  <c:v>5 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52</c:v>
                </c:pt>
                <c:pt idx="2">
                  <c:v>110</c:v>
                </c:pt>
                <c:pt idx="3">
                  <c:v>400</c:v>
                </c:pt>
                <c:pt idx="4">
                  <c:v>385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85-EF46-A5B6-FF849E6B6F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401829979585884"/>
          <c:y val="7.6757263894644753E-2"/>
          <c:w val="0.85746318168562263"/>
          <c:h val="0.7957268499332320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1-9E9B-A145-8F17-935EFE2F31CF}"/>
              </c:ext>
            </c:extLst>
          </c:dPt>
          <c:dPt>
            <c:idx val="1"/>
            <c:invertIfNegative val="1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3-9E9B-A145-8F17-935EFE2F31CF}"/>
              </c:ext>
            </c:extLst>
          </c:dPt>
          <c:dPt>
            <c:idx val="2"/>
            <c:invertIfNegative val="1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5-9E9B-A145-8F17-935EFE2F31CF}"/>
              </c:ext>
            </c:extLst>
          </c:dPt>
          <c:dPt>
            <c:idx val="3"/>
            <c:invertIfNegative val="1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7-9E9B-A145-8F17-935EFE2F31CF}"/>
              </c:ext>
            </c:extLst>
          </c:dPt>
          <c:dPt>
            <c:idx val="4"/>
            <c:invertIfNegative val="1"/>
            <c:bubble3D val="0"/>
            <c:spPr>
              <a:solidFill>
                <a:srgbClr val="1A73E8"/>
              </a:solidFill>
            </c:spPr>
            <c:extLst>
              <c:ext xmlns:c16="http://schemas.microsoft.com/office/drawing/2014/chart" uri="{C3380CC4-5D6E-409C-BE32-E72D297353CC}">
                <c16:uniqueId val="{00000009-9E9B-A145-8F17-935EFE2F31CF}"/>
              </c:ext>
            </c:extLst>
          </c:dPt>
          <c:cat>
            <c:strRef>
              <c:f>Sheet1!$A$2:$A$6</c:f>
              <c:strCache>
                <c:ptCount val="5"/>
                <c:pt idx="0">
                  <c:v>1 item</c:v>
                </c:pt>
                <c:pt idx="1">
                  <c:v>2 items</c:v>
                </c:pt>
                <c:pt idx="2">
                  <c:v>3 items</c:v>
                </c:pt>
                <c:pt idx="3">
                  <c:v>4 items</c:v>
                </c:pt>
                <c:pt idx="4">
                  <c:v>5 items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207</c:v>
                </c:pt>
                <c:pt idx="1">
                  <c:v>211</c:v>
                </c:pt>
                <c:pt idx="2">
                  <c:v>197</c:v>
                </c:pt>
                <c:pt idx="3">
                  <c:v>190</c:v>
                </c:pt>
                <c:pt idx="4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E9B-A145-8F17-935EFE2F31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 descr="A pie chart with text on it&#10;&#10;AI-generated content may be incorrect.">
          <a:extLst xmlns:a="http://schemas.openxmlformats.org/drawingml/2006/main">
            <a:ext uri="{FF2B5EF4-FFF2-40B4-BE49-F238E27FC236}">
              <a16:creationId xmlns:a16="http://schemas.microsoft.com/office/drawing/2014/main" id="{50D90F86-C97A-9EEC-EEE0-1AECAD17422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486400" cy="3474720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0" cy="6693408"/>
          </a:xfrm>
          <a:prstGeom prst="rect">
            <a:avLst/>
          </a:prstGeom>
          <a:solidFill>
            <a:srgbClr val="0A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164592"/>
            <a:ext cx="8074152" cy="6693408"/>
          </a:xfrm>
          <a:prstGeom prst="rect">
            <a:avLst/>
          </a:prstGeom>
          <a:solidFill>
            <a:srgbClr val="123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0" y="1371600"/>
            <a:ext cx="502920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0" y="1993392"/>
            <a:ext cx="384048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2615184"/>
            <a:ext cx="54864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0" y="3236976"/>
            <a:ext cx="3474720" cy="3200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0" y="3858768"/>
            <a:ext cx="4572000" cy="3200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280160"/>
            <a:ext cx="45720" cy="3657600"/>
          </a:xfrm>
          <a:prstGeom prst="rect">
            <a:avLst/>
          </a:prstGeom>
          <a:solidFill>
            <a:srgbClr val="AD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4892040"/>
            <a:ext cx="7498079" cy="45720"/>
          </a:xfrm>
          <a:prstGeom prst="rect">
            <a:avLst/>
          </a:prstGeom>
          <a:solidFill>
            <a:srgbClr val="AD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8520"/>
                </a:solidFill>
                <a:latin typeface="Calibri"/>
              </a:rPr>
              <a:t>CAPSTONE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777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DC6FF"/>
                </a:solidFill>
                <a:latin typeface="Calibri"/>
              </a:rPr>
              <a:t>FOUNDATIONS OF DATA SCIENCE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18872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Business
Analytics
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246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DC6FF"/>
                </a:solidFill>
                <a:latin typeface="Calibri"/>
              </a:rPr>
              <a:t>Synthetic Online Retail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566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DC6FF"/>
                </a:solidFill>
                <a:latin typeface="Calibri"/>
              </a:rPr>
              <a:t>Customer Behaviour &amp; Sales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23360"/>
            <a:ext cx="3291840" cy="36576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4206240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544568"/>
            <a:ext cx="28996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Calibri"/>
              </a:rPr>
              <a:t>  Satvik Kesarwani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882896"/>
            <a:ext cx="228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82896"/>
            <a:ext cx="1371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sz="1050" b="0" i="0" dirty="0">
              <a:solidFill>
                <a:srgbClr val="F5852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89120" y="4297680"/>
            <a:ext cx="1737360" cy="100584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4343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297680"/>
            <a:ext cx="1737360" cy="100584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4343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59" y="4297680"/>
            <a:ext cx="1737360" cy="100584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8159" y="4343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Visualizations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4297680"/>
            <a:ext cx="1737360" cy="100584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12680" y="4343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Categories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2A5E"/>
                </a:solidFill>
                <a:latin typeface="Calibri"/>
              </a:rPr>
              <a:t>01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Analysing 1,000 transactions from a Synthetic Online Retail Dataset to uncover
patterns in customer behaviour, product performance &amp; sales trends.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828800"/>
            <a:ext cx="772667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1560" y="1828800"/>
            <a:ext cx="54864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92024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Identify top-performing product categories &amp; inventory priorities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87168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487168"/>
            <a:ext cx="772667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1560" y="2487168"/>
            <a:ext cx="54864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57860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Understand customer demographics — age, gender &amp; spending patterns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45535"/>
            <a:ext cx="50292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18687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145535"/>
            <a:ext cx="772667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1560" y="3145535"/>
            <a:ext cx="54864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236975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Analyse price sensitivity and its effect on quantity and reviews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03903"/>
            <a:ext cx="50292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877055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803903"/>
            <a:ext cx="772667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1560" y="3803903"/>
            <a:ext cx="54864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895343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Evaluate payment method preferences for optimisation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62271"/>
            <a:ext cx="5029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535423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4462271"/>
            <a:ext cx="7726679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51560" y="4462271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4553711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Discover seasonal sales trends to guide promotional planning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822960"/>
            <a:ext cx="2834640" cy="502920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0" y="10058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PROJECT
SCOPE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011680"/>
            <a:ext cx="2468880" cy="73152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0" y="2029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520"/>
                </a:solidFill>
                <a:latin typeface="Calibri"/>
              </a:rPr>
              <a:t>1,000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4323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Transactions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2907792"/>
            <a:ext cx="2468880" cy="73152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2926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520"/>
                </a:solidFill>
                <a:latin typeface="Calibri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32841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Features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803904"/>
            <a:ext cx="2468880" cy="73152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382219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520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224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Categories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4700016"/>
            <a:ext cx="2468880" cy="731520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0" y="471830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8520"/>
                </a:solidFill>
                <a:latin typeface="Calibri"/>
              </a:rPr>
              <a:t>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120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DC6FF"/>
                </a:solidFill>
                <a:latin typeface="Calibri"/>
              </a:rPr>
              <a:t>Visualizations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2A5E"/>
                </a:solidFill>
                <a:latin typeface="Calibri"/>
              </a:rPr>
              <a:t>02  DATASET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645920" cy="54864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synthetic_online_retail_data.csv  —  1,000 rows × 13 features  |  Source: Kaggle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783080" cy="384048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463040"/>
            <a:ext cx="3429000" cy="384048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0" y="14904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Column(s)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63040"/>
            <a:ext cx="5074920" cy="384048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490472"/>
            <a:ext cx="4983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783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920240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19659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age, gender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20240"/>
            <a:ext cx="5074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196596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Buyer demographics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14016"/>
            <a:ext cx="178308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45973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2414016"/>
            <a:ext cx="342900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8880" y="2459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category_name, product_name, price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414016"/>
            <a:ext cx="507492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2459736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Item and pricing details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07792"/>
            <a:ext cx="17830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95351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907792"/>
            <a:ext cx="3429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2953512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customer_id, product_id, order_date, quantity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907792"/>
            <a:ext cx="5074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953512"/>
            <a:ext cx="49834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Transaction record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93008"/>
            <a:ext cx="178308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5387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Payment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493008"/>
            <a:ext cx="342900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68880" y="353872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payment_method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493008"/>
            <a:ext cx="5074920" cy="4572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3538728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Mode of payment used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86784"/>
            <a:ext cx="1783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03250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Feedback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986784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68880" y="4032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review_score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986784"/>
            <a:ext cx="5074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4032504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Customer satisfaction score (1–5)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480560"/>
            <a:ext cx="1783080" cy="45720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Derived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480560"/>
            <a:ext cx="3429000" cy="45720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8880" y="45262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total_amount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4480560"/>
            <a:ext cx="5074920" cy="45720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35040" y="45262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price × quantity = revenue per order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2A5E"/>
                </a:solidFill>
                <a:latin typeface="Calibri"/>
              </a:rPr>
              <a:t>03  DATA WRANGLING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04672"/>
            <a:ext cx="1828800" cy="54864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783080" cy="34747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005840"/>
            <a:ext cx="1600200" cy="34747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042416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005840"/>
            <a:ext cx="6995160" cy="34747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042416"/>
            <a:ext cx="6903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08176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08176"/>
            <a:ext cx="64008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1499616"/>
            <a:ext cx="16459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3E8"/>
                </a:solidFill>
                <a:latin typeface="Calibri"/>
              </a:rPr>
              <a:t>Missing Values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408176"/>
            <a:ext cx="160020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68880" y="1499616"/>
            <a:ext cx="150876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Fill — Mean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408176"/>
            <a:ext cx="6995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1499616"/>
            <a:ext cx="69037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review_score: 103 nulls filled with mean (3.99)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97510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975104"/>
            <a:ext cx="64008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2066544"/>
            <a:ext cx="16459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28090"/>
                </a:solidFill>
                <a:latin typeface="Calibri"/>
              </a:rPr>
              <a:t>Missing 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1975104"/>
            <a:ext cx="160020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2066544"/>
            <a:ext cx="150876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Fill — Label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1975104"/>
            <a:ext cx="6995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06240" y="2066544"/>
            <a:ext cx="69037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gender: nulls replaced with 'Unknown' (103 records)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42032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542032"/>
            <a:ext cx="64008" cy="53035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2633472"/>
            <a:ext cx="16459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2A5E"/>
                </a:solidFill>
                <a:latin typeface="Calibri"/>
              </a:rPr>
              <a:t>Duplicates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542032"/>
            <a:ext cx="160020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80" y="2633472"/>
            <a:ext cx="150876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Drop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542032"/>
            <a:ext cx="6995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06240" y="2633472"/>
            <a:ext cx="69037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All duplicate rows removed for data integrity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108960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108960"/>
            <a:ext cx="64008" cy="5303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" y="3200400"/>
            <a:ext cx="16459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6D28D9"/>
                </a:solidFill>
                <a:latin typeface="Calibri"/>
              </a:rPr>
              <a:t>Data Types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108960"/>
            <a:ext cx="160020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68880" y="3200400"/>
            <a:ext cx="150876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Convert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108960"/>
            <a:ext cx="6995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06240" y="3200400"/>
            <a:ext cx="69037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order_date: object → datetime64 format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675888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7200" y="3675888"/>
            <a:ext cx="64008" cy="5303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3767328"/>
            <a:ext cx="16459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Calibri"/>
              </a:rPr>
              <a:t>New Feature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3675888"/>
            <a:ext cx="160020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3767328"/>
            <a:ext cx="150876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Engineer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3675888"/>
            <a:ext cx="6995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06240" y="3767328"/>
            <a:ext cx="69037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total_amount = quantity × price  |  Range: Rs.20.84 – Rs.2,437.65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242816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4242816"/>
            <a:ext cx="64008" cy="530352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" y="4334256"/>
            <a:ext cx="16459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8520"/>
                </a:solidFill>
                <a:latin typeface="Calibri"/>
              </a:rPr>
              <a:t>Filtering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242816"/>
            <a:ext cx="160020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68880" y="4334256"/>
            <a:ext cx="150876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Explore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4242816"/>
            <a:ext cx="6995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06240" y="4334256"/>
            <a:ext cx="69037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Price &gt; Rs.100, gender = M, price between Rs.100–Rs.500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809744"/>
            <a:ext cx="1783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57200" y="4809744"/>
            <a:ext cx="64008" cy="530352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" y="4901184"/>
            <a:ext cx="16459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D174D"/>
                </a:solidFill>
                <a:latin typeface="Calibri"/>
              </a:rPr>
              <a:t>Sorting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4809744"/>
            <a:ext cx="1600200" cy="53035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468880" y="4901184"/>
            <a:ext cx="150876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Order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4809744"/>
            <a:ext cx="6995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06240" y="4901184"/>
            <a:ext cx="69037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Dataset sorted by price in descending order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2A5E"/>
                </a:solidFill>
                <a:latin typeface="Calibri"/>
              </a:rPr>
              <a:t>04  VISUALIZATIONS — Category &amp; Gender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01168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960038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Category Count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964785"/>
              </p:ext>
            </p:extLst>
          </p:nvPr>
        </p:nvGraphicFramePr>
        <p:xfrm>
          <a:off x="365760" y="1536192"/>
          <a:ext cx="5943600" cy="3355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276088"/>
            <a:ext cx="594360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Focus inventory &amp; promotions on Sports &amp; Outdoors and Electronics — they lead in demand.</a:t>
            </a:r>
          </a:p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333756" y="5270351"/>
            <a:ext cx="64008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8" y="1018228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Gender Distribution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46513"/>
              </p:ext>
            </p:extLst>
          </p:nvPr>
        </p:nvGraphicFramePr>
        <p:xfrm>
          <a:off x="6400800" y="1491221"/>
          <a:ext cx="5486400" cy="3464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0" y="5303602"/>
            <a:ext cx="548640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rgbClr val="1E293B"/>
                </a:solidFill>
              </a:rPr>
              <a:t>✓ Nearly equal gender split — design balanced campaigns targeting both             M &amp; F equally.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5303602"/>
            <a:ext cx="64008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2A5E"/>
                </a:solidFill>
                <a:latin typeface="Calibri"/>
              </a:rPr>
              <a:t>04  VISUALIZATIONS — Payment &amp; 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01168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Payment Method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312110"/>
            <a:ext cx="594360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COD dominates (37.4%). Offer cashback on digital payments to shift users to online modes.</a:t>
            </a:r>
          </a:p>
          <a:p>
            <a:pPr algn="ctr"/>
            <a:endParaRPr sz="1400" dirty="0"/>
          </a:p>
        </p:txBody>
      </p:sp>
      <p:sp>
        <p:nvSpPr>
          <p:cNvPr id="8" name="Rectangle 7"/>
          <p:cNvSpPr/>
          <p:nvPr/>
        </p:nvSpPr>
        <p:spPr>
          <a:xfrm>
            <a:off x="365760" y="5312110"/>
            <a:ext cx="64008" cy="64008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82296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Price Distribution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429316"/>
              </p:ext>
            </p:extLst>
          </p:nvPr>
        </p:nvGraphicFramePr>
        <p:xfrm>
          <a:off x="6400800" y="1463040"/>
          <a:ext cx="5486400" cy="3674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0" y="5312110"/>
            <a:ext cx="548640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Mean price Rs.251.85. Price products in Rs.100–Rs.400 to match peak customer demand.</a:t>
            </a:r>
          </a:p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400800" y="5312110"/>
            <a:ext cx="64008" cy="64008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 pie chart with numbers and a diagram&#10;&#10;AI-generated content may be incorrect.">
            <a:extLst>
              <a:ext uri="{FF2B5EF4-FFF2-40B4-BE49-F238E27FC236}">
                <a16:creationId xmlns:a16="http://schemas.microsoft.com/office/drawing/2014/main" id="{F154CF2D-EFC4-C4D5-41F4-265F99FA8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0655"/>
            <a:ext cx="57912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2A5E"/>
                </a:solidFill>
                <a:latin typeface="Calibri"/>
              </a:rPr>
              <a:t>04  VISUALIZATIONS — Satisfaction &amp; Quantity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28600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11119"/>
            <a:ext cx="594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Customer Satisfaction (Review Scores)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963584"/>
              </p:ext>
            </p:extLst>
          </p:nvPr>
        </p:nvGraphicFramePr>
        <p:xfrm>
          <a:off x="365760" y="1707434"/>
          <a:ext cx="5943600" cy="3313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5276088"/>
            <a:ext cx="594360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</a:t>
            </a:r>
            <a:r>
              <a:rPr lang="en-IN" sz="1400" dirty="0" err="1">
                <a:solidFill>
                  <a:srgbClr val="1E293B"/>
                </a:solidFill>
              </a:rPr>
              <a:t>Avg</a:t>
            </a:r>
            <a:r>
              <a:rPr lang="en-IN" sz="1400" dirty="0">
                <a:solidFill>
                  <a:srgbClr val="1E293B"/>
                </a:solidFill>
              </a:rPr>
              <a:t> rating 3.99/5. 75% gave 5★. Investigate 1–2★ customers and offer recovery coupons.</a:t>
            </a:r>
          </a:p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301625" y="5276088"/>
            <a:ext cx="64008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8058" y="978406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Quantity Distribution per Order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501491"/>
              </p:ext>
            </p:extLst>
          </p:nvPr>
        </p:nvGraphicFramePr>
        <p:xfrm>
          <a:off x="6400800" y="1463040"/>
          <a:ext cx="5486400" cy="3557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6464808" y="5276088"/>
            <a:ext cx="5486400" cy="640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</a:t>
            </a:r>
            <a:r>
              <a:rPr lang="en-IN" sz="1400" dirty="0" err="1">
                <a:solidFill>
                  <a:srgbClr val="1E293B"/>
                </a:solidFill>
              </a:rPr>
              <a:t>Avg</a:t>
            </a:r>
            <a:r>
              <a:rPr lang="en-IN" sz="1400" dirty="0">
                <a:solidFill>
                  <a:srgbClr val="1E293B"/>
                </a:solidFill>
              </a:rPr>
              <a:t> 3 items/order. Launch combo offers for 4–5 items to boost average order value.</a:t>
            </a:r>
          </a:p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400800" y="5269438"/>
            <a:ext cx="64008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02A5E"/>
                </a:solidFill>
                <a:latin typeface="Calibri"/>
              </a:rPr>
              <a:t>04  VISUALIZATIONS — Scatter 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01168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19" y="978408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Price vs Quantity</a:t>
            </a:r>
          </a:p>
        </p:txBody>
      </p:sp>
      <p:pic>
        <p:nvPicPr>
          <p:cNvPr id="6" name="Picture 5" descr="download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428750"/>
            <a:ext cx="4940254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3064" y="5170932"/>
            <a:ext cx="4254454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solidFill>
                  <a:srgbClr val="1E293B"/>
                </a:solidFill>
              </a:rPr>
              <a:t>✓ No correlation — price does not affect qty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394" y="5164074"/>
            <a:ext cx="6400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4929" y="981694"/>
            <a:ext cx="374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02A5E"/>
                </a:solidFill>
                <a:latin typeface="Calibri"/>
              </a:rPr>
              <a:t>Age vs Total Spending</a:t>
            </a:r>
          </a:p>
        </p:txBody>
      </p:sp>
      <p:pic>
        <p:nvPicPr>
          <p:cNvPr id="11" name="Picture 10" descr="download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929" y="1522476"/>
            <a:ext cx="4668136" cy="32918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71307" y="5214366"/>
            <a:ext cx="4158693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Ages 28–35 &amp; 50–55 are top spenders</a:t>
            </a:r>
          </a:p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7207299" y="5232341"/>
            <a:ext cx="6400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dots&#10;&#10;AI-generated content may be incorrect.">
            <a:extLst>
              <a:ext uri="{FF2B5EF4-FFF2-40B4-BE49-F238E27FC236}">
                <a16:creationId xmlns:a16="http://schemas.microsoft.com/office/drawing/2014/main" id="{C7F2E9AD-769E-8C80-B22B-DE9D7E8C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46" y="1630629"/>
            <a:ext cx="5954280" cy="35374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48B305-38B1-101F-55AC-94E08C86C154}"/>
              </a:ext>
            </a:extLst>
          </p:cNvPr>
          <p:cNvSpPr txBox="1"/>
          <p:nvPr/>
        </p:nvSpPr>
        <p:spPr>
          <a:xfrm>
            <a:off x="6550002" y="1261297"/>
            <a:ext cx="2229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102A5E"/>
                </a:solidFill>
              </a:rPr>
              <a:t>Price vs Review Score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675D74-1858-CC88-4B05-364FBAE920D2}"/>
              </a:ext>
            </a:extLst>
          </p:cNvPr>
          <p:cNvSpPr/>
          <p:nvPr/>
        </p:nvSpPr>
        <p:spPr>
          <a:xfrm>
            <a:off x="6809055" y="5405679"/>
            <a:ext cx="4524933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No correlation — high price doesn’t mean better reviews.</a:t>
            </a:r>
          </a:p>
          <a:p>
            <a:pPr algn="ctr"/>
            <a:endParaRPr dirty="0"/>
          </a:p>
        </p:txBody>
      </p:sp>
      <p:pic>
        <p:nvPicPr>
          <p:cNvPr id="7" name="Picture 6" descr="download-1.png">
            <a:extLst>
              <a:ext uri="{FF2B5EF4-FFF2-40B4-BE49-F238E27FC236}">
                <a16:creationId xmlns:a16="http://schemas.microsoft.com/office/drawing/2014/main" id="{381AAFF3-5B6F-2575-3937-CF06BB372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20" y="1631295"/>
            <a:ext cx="4341985" cy="3645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03BD13-D874-D05A-3812-7A14CDE6CCD5}"/>
              </a:ext>
            </a:extLst>
          </p:cNvPr>
          <p:cNvSpPr txBox="1"/>
          <p:nvPr/>
        </p:nvSpPr>
        <p:spPr>
          <a:xfrm>
            <a:off x="811840" y="1261297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1" i="0" dirty="0">
                <a:solidFill>
                  <a:srgbClr val="102A5E"/>
                </a:solidFill>
                <a:latin typeface="Calibri"/>
              </a:rPr>
              <a:t>Quantity vs Total Amount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FF9140-0E7C-66FD-4BEF-ECFB8755DA47}"/>
              </a:ext>
            </a:extLst>
          </p:cNvPr>
          <p:cNvSpPr/>
          <p:nvPr/>
        </p:nvSpPr>
        <p:spPr>
          <a:xfrm>
            <a:off x="822833" y="5405679"/>
            <a:ext cx="4034166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1E293B"/>
              </a:solidFill>
            </a:endParaRPr>
          </a:p>
          <a:p>
            <a:pPr algn="ctr"/>
            <a:r>
              <a:rPr lang="en-IN" sz="1400" dirty="0">
                <a:solidFill>
                  <a:srgbClr val="1E293B"/>
                </a:solidFill>
              </a:rPr>
              <a:t>✓ Strong positive — max Rs.2,437.65 at qty 5</a:t>
            </a:r>
          </a:p>
          <a:p>
            <a:pPr algn="ctr"/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078D7A-36E6-8DCA-9460-65631203FA6B}"/>
              </a:ext>
            </a:extLst>
          </p:cNvPr>
          <p:cNvSpPr/>
          <p:nvPr/>
        </p:nvSpPr>
        <p:spPr>
          <a:xfrm>
            <a:off x="731443" y="5405679"/>
            <a:ext cx="6400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84462-9F4E-FEFB-BA3E-A90742298235}"/>
              </a:ext>
            </a:extLst>
          </p:cNvPr>
          <p:cNvSpPr/>
          <p:nvPr/>
        </p:nvSpPr>
        <p:spPr>
          <a:xfrm>
            <a:off x="6754291" y="5405679"/>
            <a:ext cx="64008" cy="685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F1DEF9-79EF-388D-F064-A1D1BF1F7022}"/>
              </a:ext>
            </a:extLst>
          </p:cNvPr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3EF559-0B3D-E28D-DFED-029D4E53BE06}"/>
              </a:ext>
            </a:extLst>
          </p:cNvPr>
          <p:cNvSpPr/>
          <p:nvPr/>
        </p:nvSpPr>
        <p:spPr>
          <a:xfrm>
            <a:off x="-127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1929C2-BAB8-EA7D-DE2E-8E29F7DE487D}"/>
              </a:ext>
            </a:extLst>
          </p:cNvPr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02A5E"/>
                </a:solidFill>
                <a:latin typeface="Calibri"/>
              </a:rPr>
              <a:t>04  VISUALIZATIONS — Scatter Plots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CCA3F2-0D67-6B2E-BB10-10C5B28FE4E3}"/>
              </a:ext>
            </a:extLst>
          </p:cNvPr>
          <p:cNvSpPr/>
          <p:nvPr/>
        </p:nvSpPr>
        <p:spPr>
          <a:xfrm>
            <a:off x="457200" y="713232"/>
            <a:ext cx="228600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39202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2A5E"/>
                </a:solidFill>
                <a:latin typeface="Calibri"/>
              </a:rPr>
              <a:t>04  VISUALIZATIONS — Sales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201168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669280"/>
            <a:ext cx="11430000" cy="77724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5669280"/>
            <a:ext cx="91440" cy="77724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57607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  Peak: 12 Aug 2024 — Rs.8,788.71 (single-day record)  |  August 2024 is the strongest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1447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DC6FF"/>
                </a:solidFill>
                <a:latin typeface="Calibri"/>
              </a:rPr>
              <a:t>✓ Pre-stock inventory in July. Use off-peak discounts to stabilise year-round revenue.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2A5E"/>
                </a:solidFill>
                <a:latin typeface="Calibri"/>
              </a:rPr>
              <a:t>05  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28016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457200" cy="5029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86868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9418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Sports &amp; Outdoors leads with 211 orders across 5 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4572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5270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46304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5361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Gender split is nearly equal: M 45.7%, F 44.0%, Unknown 10.3%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57400"/>
            <a:ext cx="457200" cy="5029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05740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130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Cash on Delivery dominates at 37.4%; digital payments &gt;62%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457200" cy="502920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7157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65176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2724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Price is uniformly spread Rs.10–Rs.500; mean Rs.251.85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46120"/>
            <a:ext cx="4572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310127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24612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3192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Avg order qty = 3 items; 50% buy 3 or fewer items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40480"/>
            <a:ext cx="45720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9044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84048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3913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Customer rating avg 3.99 / 5; 75% gave 5 stars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868680"/>
            <a:ext cx="4572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9326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59" y="86868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9418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Price &amp; quantity show NO correlation — low price sensitivity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463040"/>
            <a:ext cx="457200" cy="50292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15270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59" y="146304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15361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Qty vs Amount: strong positive — max Rs.2,437.65 at qty 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057400"/>
            <a:ext cx="457200" cy="50292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21214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59" y="205740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21305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Ages 28–35 &amp; 50–55 are top spenders (avg Rs.1,013 &amp; Rs.977)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2651760"/>
            <a:ext cx="4572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63640" y="27157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59" y="265176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0" y="2724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Price &amp; review score: NO correlation — quality matters more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246120"/>
            <a:ext cx="457200" cy="502920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3310127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59" y="3246120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0" y="33192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Peak sales: 12 Aug 2024 — Rs.8,788.71 (Aug is strongest month)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2A5E"/>
                </a:solidFill>
                <a:latin typeface="Calibri"/>
              </a:rPr>
              <a:t>06  BUSINESS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828800" cy="4572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685800" cy="1005840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91440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078992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Increase stock for Sports &amp; Outdoors (211) and Electronics (207) to prevent stockouts during peak demand.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7"/>
            <a:ext cx="685800" cy="10058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0545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029967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2194560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Keep products in Rs.100–Rs.400 range. Mean Rs.251.85 captures peak demand and maximises conversion.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45535"/>
            <a:ext cx="685800" cy="1005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218687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21023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45535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310127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Promote UPI &amp; digital wallets with cashback. Reduces COD operational costs and speeds fulfilment.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61103"/>
            <a:ext cx="685800" cy="100584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334255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36592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261103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425695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Target ages 28–35 and 50–55 — highest spenders at avg Rs.1,013 and Rs.977 respectively.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76671"/>
            <a:ext cx="685800" cy="1005840"/>
          </a:xfrm>
          <a:prstGeom prst="rect">
            <a:avLst/>
          </a:prstGeom>
          <a:solidFill>
            <a:srgbClr val="E84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5449823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852159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Retention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376671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40" y="5541263"/>
            <a:ext cx="10332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Follow up on review scores &lt; 3 via email/WhatsApp with discount coupons to prevent churn.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07 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429000" cy="36576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Takeaway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3429000" cy="36576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9601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914400"/>
            <a:ext cx="4069080" cy="365760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96012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35024"/>
            <a:ext cx="342900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Most Popular 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335024"/>
            <a:ext cx="342900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426464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Sports &amp; Outdoors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335024"/>
            <a:ext cx="406908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1426464"/>
            <a:ext cx="39776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211 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93392"/>
            <a:ext cx="342900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84832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Customer Age Range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1993392"/>
            <a:ext cx="342900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2084832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32–61 years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1993392"/>
            <a:ext cx="406908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63840" y="2084832"/>
            <a:ext cx="39776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Interquartile range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51760"/>
            <a:ext cx="342900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Average Spend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2651760"/>
            <a:ext cx="342900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2743200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Rs.737.33 / transaction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2651760"/>
            <a:ext cx="406908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2743200"/>
            <a:ext cx="39776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Mean of total_amount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10128"/>
            <a:ext cx="342900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401568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Preferred Payment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310128"/>
            <a:ext cx="342900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06240" y="3401568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Cash on Delivery (37.4%)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310128"/>
            <a:ext cx="406908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3401568"/>
            <a:ext cx="39776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374 of 1,000 orders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68496"/>
            <a:ext cx="342900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059936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Peak Sales Period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968496"/>
            <a:ext cx="342900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06240" y="4059936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August 2024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3968496"/>
            <a:ext cx="4069080" cy="621792"/>
          </a:xfrm>
          <a:prstGeom prst="rect">
            <a:avLst/>
          </a:prstGeom>
          <a:solidFill>
            <a:srgbClr val="1A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0" y="4059936"/>
            <a:ext cx="39776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Rs.8,788.71 on 12 Aug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26864"/>
            <a:ext cx="342900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718304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Customer Satisfaction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0" y="4626864"/>
            <a:ext cx="342900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206240" y="4718304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3.99 / 5.0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4626864"/>
            <a:ext cx="4069080" cy="621792"/>
          </a:xfrm>
          <a:prstGeom prst="rect">
            <a:avLst/>
          </a:prstGeom>
          <a:solidFill>
            <a:srgbClr val="10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0" y="4718304"/>
            <a:ext cx="397763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75% gave 5-star rating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8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911</Words>
  <Application>Microsoft Macintosh PowerPoint</Application>
  <PresentationFormat>Custom</PresentationFormat>
  <Paragraphs>182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Satvik Kesarwani</cp:lastModifiedBy>
  <cp:revision>3</cp:revision>
  <dcterms:created xsi:type="dcterms:W3CDTF">2013-01-27T09:14:16Z</dcterms:created>
  <dcterms:modified xsi:type="dcterms:W3CDTF">2026-05-31T09:21:16Z</dcterms:modified>
  <cp:category/>
</cp:coreProperties>
</file>